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143000"/>
            <a:ext cx="16011525" cy="8010525"/>
          </a:xfrm>
          <a:prstGeom prst="rect">
            <a:avLst/>
          </a:prstGeom>
          <a:blipFill>
            <a:blip r:embed="rId1"/>
            <a:tile tx="0" ty="0" sx="100000" sy="100000" flip="none" algn="tl"/>
          </a:blipFill>
          <a:ln w="7620">
            <a:solidFill>
              <a:srgbClr val="1A1A26">
                <a:alpha val="8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4952226" y="754380"/>
            <a:ext cx="2412052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800" b="1" spc="144" kern="0" dirty="0">
                <a:solidFill>
                  <a:srgbClr val="598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PROJEKTVORSTELLUNG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36082" y="4274820"/>
            <a:ext cx="17719810" cy="1478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129"/>
              </a:lnSpc>
              <a:buNone/>
            </a:pPr>
            <a:r>
              <a:rPr lang="en-US" sz="16200" b="1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Restaurant</a:t>
            </a:r>
            <a:endParaRPr lang="en-US" sz="16200" dirty="0"/>
          </a:p>
        </p:txBody>
      </p:sp>
      <p:sp>
        <p:nvSpPr>
          <p:cNvPr id="5" name="Text 3"/>
          <p:cNvSpPr/>
          <p:nvPr/>
        </p:nvSpPr>
        <p:spPr>
          <a:xfrm>
            <a:off x="1143000" y="6362700"/>
            <a:ext cx="2942999" cy="3048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3448"/>
              </a:lnSpc>
              <a:buNone/>
            </a:pPr>
            <a:r>
              <a:rPr lang="en-US" sz="3000" b="1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GIG — Gastro ist geil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257800" y="6442710"/>
            <a:ext cx="8005572" cy="681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1D1F21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Tischverwaltung für den Service: vom freien Tisch bis zur bezahlten Rechnung — React-Frontend, .NET-10-API und PostgreSQL.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143000" y="8755380"/>
            <a:ext cx="1459778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800" dirty="0">
                <a:solidFill>
                  <a:srgbClr val="1D1F21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Oktober 2026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143000"/>
            <a:ext cx="16011525" cy="8010525"/>
          </a:xfrm>
          <a:prstGeom prst="rect">
            <a:avLst/>
          </a:prstGeom>
          <a:blipFill>
            <a:blip r:embed="rId1"/>
            <a:tile tx="0" ty="0" sx="100000" sy="100000" flip="none" algn="tl"/>
          </a:blipFill>
          <a:ln w="7620">
            <a:solidFill>
              <a:srgbClr val="1A1A26">
                <a:alpha val="8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5494" y="1645920"/>
            <a:ext cx="17654457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957"/>
              </a:lnSpc>
              <a:buNone/>
            </a:pPr>
            <a:r>
              <a:rPr lang="en-US" sz="7200" b="1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143000" y="4183380"/>
            <a:ext cx="317183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800" dirty="0">
                <a:solidFill>
                  <a:srgbClr val="598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257800" y="4076700"/>
            <a:ext cx="219909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621"/>
              </a:lnSpc>
              <a:buNone/>
            </a:pPr>
            <a:r>
              <a:rPr lang="en-US" sz="30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Produkt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143000" y="5326380"/>
            <a:ext cx="317183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800" dirty="0">
                <a:solidFill>
                  <a:srgbClr val="598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257800" y="5219700"/>
            <a:ext cx="344382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621"/>
              </a:lnSpc>
              <a:buNone/>
            </a:pPr>
            <a:r>
              <a:rPr lang="en-US" sz="30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Bedienung &amp; Demo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143000" y="6469380"/>
            <a:ext cx="317183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800" dirty="0">
                <a:solidFill>
                  <a:srgbClr val="598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257800" y="6362700"/>
            <a:ext cx="141917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621"/>
              </a:lnSpc>
              <a:buNone/>
            </a:pPr>
            <a:r>
              <a:rPr lang="en-US" sz="30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Technik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143000" y="7612380"/>
            <a:ext cx="317183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800" dirty="0">
                <a:solidFill>
                  <a:srgbClr val="598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257800" y="7505700"/>
            <a:ext cx="286874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621"/>
              </a:lnSpc>
              <a:buNone/>
            </a:pPr>
            <a:r>
              <a:rPr lang="en-US" sz="30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Fazit &amp; Ausblick</a:t>
            </a:r>
            <a:endParaRPr lang="en-US" sz="30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8755380"/>
            <a:ext cx="2491026" cy="1600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D2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143000"/>
            <a:ext cx="16011525" cy="8010525"/>
          </a:xfrm>
          <a:prstGeom prst="rect">
            <a:avLst/>
          </a:prstGeom>
          <a:blipFill>
            <a:blip r:embed="rId1"/>
            <a:tile tx="0" ty="0" sx="100000" sy="100000" flip="none" algn="tl"/>
          </a:blipFill>
          <a:ln w="7620">
            <a:solidFill>
              <a:srgbClr val="F4F4F4">
                <a:alpha val="9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78456" y="2514600"/>
            <a:ext cx="3641193" cy="3238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957"/>
              </a:lnSpc>
              <a:buNone/>
            </a:pPr>
            <a:r>
              <a:rPr lang="en-US" sz="36000" b="1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6000" dirty="0"/>
          </a:p>
        </p:txBody>
      </p:sp>
      <p:sp>
        <p:nvSpPr>
          <p:cNvPr id="4" name="Text 2"/>
          <p:cNvSpPr/>
          <p:nvPr/>
        </p:nvSpPr>
        <p:spPr>
          <a:xfrm>
            <a:off x="1095494" y="7132320"/>
            <a:ext cx="4304026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957"/>
              </a:lnSpc>
              <a:buNone/>
            </a:pPr>
            <a:r>
              <a:rPr lang="en-US" sz="7200" b="1" dirty="0">
                <a:solidFill>
                  <a:srgbClr val="F2F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Produkt</a:t>
            </a:r>
            <a:endParaRPr lang="en-US" sz="7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8755380"/>
            <a:ext cx="2491026" cy="1600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143000"/>
            <a:ext cx="16011525" cy="8010525"/>
          </a:xfrm>
          <a:prstGeom prst="rect">
            <a:avLst/>
          </a:prstGeom>
          <a:blipFill>
            <a:blip r:embed="rId1"/>
            <a:tile tx="0" ty="0" sx="100000" sy="100000" flip="none" algn="tl"/>
          </a:blipFill>
          <a:ln w="7620">
            <a:solidFill>
              <a:srgbClr val="1A1A26">
                <a:alpha val="8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43000" y="754380"/>
            <a:ext cx="1918168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800" b="1" spc="144" kern="0" dirty="0">
                <a:solidFill>
                  <a:srgbClr val="598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DAS PRODUKT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5494" y="1645920"/>
            <a:ext cx="17654457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957"/>
              </a:lnSpc>
              <a:buNone/>
            </a:pPr>
            <a:r>
              <a:rPr lang="en-US" sz="7200" b="1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Worum geht es?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916305" y="3202305"/>
            <a:ext cx="11923395" cy="2550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5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Tische auf einen Blick: frei oder besetzt</a:t>
            </a:r>
            <a:endParaRPr lang="en-US" sz="25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5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Bestellungen pro Tisch erfassen und korrigieren</a:t>
            </a:r>
            <a:endParaRPr lang="en-US" sz="25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5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Rechnung mit MwSt. erstellen, bar oder per Karte bezahlen</a:t>
            </a:r>
            <a:endParaRPr lang="en-US" sz="25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8755380"/>
            <a:ext cx="2491026" cy="1600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143000"/>
            <a:ext cx="16011525" cy="8010525"/>
          </a:xfrm>
          <a:prstGeom prst="rect">
            <a:avLst/>
          </a:prstGeom>
          <a:blipFill>
            <a:blip r:embed="rId1"/>
            <a:tile tx="0" ty="0" sx="100000" sy="100000" flip="none" algn="tl"/>
          </a:blipFill>
          <a:ln w="7620">
            <a:solidFill>
              <a:srgbClr val="1A1A26">
                <a:alpha val="8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43000" y="754380"/>
            <a:ext cx="1918168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800" b="1" spc="144" kern="0" dirty="0">
                <a:solidFill>
                  <a:srgbClr val="598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DAS PRODUKT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01923" y="2834640"/>
            <a:ext cx="3177564" cy="2918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957"/>
              </a:lnSpc>
              <a:buNone/>
            </a:pPr>
            <a:r>
              <a:rPr lang="en-US" sz="32400" b="1" dirty="0">
                <a:solidFill>
                  <a:srgbClr val="598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32400" dirty="0"/>
          </a:p>
        </p:txBody>
      </p:sp>
      <p:sp>
        <p:nvSpPr>
          <p:cNvPr id="5" name="Text 3"/>
          <p:cNvSpPr/>
          <p:nvPr/>
        </p:nvSpPr>
        <p:spPr>
          <a:xfrm>
            <a:off x="9372600" y="6442710"/>
            <a:ext cx="8005572" cy="681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1D1F21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Tische sind in den Startdaten angelegt — dazu 20 Artikel in den Kategorien Essen und Trinken und 4 Mitarbeiter.</a:t>
            </a:r>
            <a:endParaRPr lang="en-US" sz="2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8755380"/>
            <a:ext cx="2491026" cy="1600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D2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143000"/>
            <a:ext cx="16011525" cy="8010525"/>
          </a:xfrm>
          <a:prstGeom prst="rect">
            <a:avLst/>
          </a:prstGeom>
          <a:blipFill>
            <a:blip r:embed="rId1"/>
            <a:tile tx="0" ty="0" sx="100000" sy="100000" flip="none" algn="tl"/>
          </a:blipFill>
          <a:ln w="7620">
            <a:solidFill>
              <a:srgbClr val="F4F4F4">
                <a:alpha val="9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78456" y="2514600"/>
            <a:ext cx="4400550" cy="3238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957"/>
              </a:lnSpc>
              <a:buNone/>
            </a:pPr>
            <a:r>
              <a:rPr lang="en-US" sz="36000" b="1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6000" dirty="0"/>
          </a:p>
        </p:txBody>
      </p:sp>
      <p:sp>
        <p:nvSpPr>
          <p:cNvPr id="4" name="Text 2"/>
          <p:cNvSpPr/>
          <p:nvPr/>
        </p:nvSpPr>
        <p:spPr>
          <a:xfrm>
            <a:off x="1095494" y="7132320"/>
            <a:ext cx="6728127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957"/>
              </a:lnSpc>
              <a:buNone/>
            </a:pPr>
            <a:r>
              <a:rPr lang="en-US" sz="7200" b="1" dirty="0">
                <a:solidFill>
                  <a:srgbClr val="F2F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Bedienung &amp; Demo</a:t>
            </a:r>
            <a:endParaRPr lang="en-US" sz="7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8755380"/>
            <a:ext cx="2491026" cy="1600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143000"/>
            <a:ext cx="16011525" cy="8010525"/>
          </a:xfrm>
          <a:prstGeom prst="rect">
            <a:avLst/>
          </a:prstGeom>
          <a:blipFill>
            <a:blip r:embed="rId1"/>
            <a:tile tx="0" ty="0" sx="100000" sy="100000" flip="none" algn="tl"/>
          </a:blipFill>
          <a:ln w="7620">
            <a:solidFill>
              <a:srgbClr val="1A1A26">
                <a:alpha val="8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43000" y="754380"/>
            <a:ext cx="1673257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800" b="1" spc="144" kern="0" dirty="0">
                <a:solidFill>
                  <a:srgbClr val="598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BEDIENUNG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5494" y="1645920"/>
            <a:ext cx="8098976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957"/>
              </a:lnSpc>
              <a:buNone/>
            </a:pPr>
            <a:r>
              <a:rPr lang="en-US" sz="7200" b="1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Oberfläche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1143000" y="3242310"/>
            <a:ext cx="7534656" cy="1139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1D1F21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Oben die Kopfzeile mit Gesamt, Besetzt und Frei. Darunter alle Tische als Karten — ein Klick öffnet rechts die Seitenleiste mit Bestellung und Rechnung.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9372600" y="2286000"/>
            <a:ext cx="7772400" cy="6629400"/>
          </a:xfrm>
          <a:prstGeom prst="rect">
            <a:avLst/>
          </a:prstGeom>
          <a:ln w="7620">
            <a:solidFill>
              <a:srgbClr val="1F1F1F">
                <a:alpha val="1600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8755380"/>
            <a:ext cx="2491026" cy="1600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143000"/>
            <a:ext cx="16011525" cy="8010525"/>
          </a:xfrm>
          <a:prstGeom prst="rect">
            <a:avLst/>
          </a:prstGeom>
          <a:blipFill>
            <a:blip r:embed="rId1"/>
            <a:tile tx="0" ty="0" sx="100000" sy="100000" flip="none" algn="tl"/>
          </a:blipFill>
          <a:ln w="7620">
            <a:solidFill>
              <a:srgbClr val="1A1A26">
                <a:alpha val="8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43000" y="754380"/>
            <a:ext cx="1673257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800" b="1" spc="144" kern="0" dirty="0">
                <a:solidFill>
                  <a:srgbClr val="598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BEDIENUNG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5494" y="1645920"/>
            <a:ext cx="17654457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957"/>
              </a:lnSpc>
              <a:buNone/>
            </a:pPr>
            <a:r>
              <a:rPr lang="en-US" sz="7200" b="1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Tisch, von Anfang bis Ende</a:t>
            </a:r>
            <a:endParaRPr lang="en-US" sz="7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3000" y="3657600"/>
            <a:ext cx="16002000" cy="2286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6691313"/>
            <a:ext cx="12194762" cy="6619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6667"/>
              </a:lnSpc>
              <a:buNone/>
            </a:pPr>
            <a:r>
              <a:rPr lang="en-US" sz="1875" dirty="0">
                <a:solidFill>
                  <a:srgbClr val="1D1F21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erste Artikel setzt den Tisch automatisch auf „Besetzt“ — erst die Zahlung speichert die Bestellung und gibt ihn wieder frei.</a:t>
            </a:r>
            <a:endParaRPr lang="en-US" sz="1875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8755380"/>
            <a:ext cx="2491026" cy="1600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143000"/>
            <a:ext cx="16011525" cy="8010525"/>
          </a:xfrm>
          <a:prstGeom prst="rect">
            <a:avLst/>
          </a:prstGeom>
          <a:blipFill>
            <a:blip r:embed="rId1"/>
            <a:tile tx="0" ty="0" sx="100000" sy="100000" flip="none" algn="tl"/>
          </a:blipFill>
          <a:ln w="7620">
            <a:solidFill>
              <a:srgbClr val="1A1A26">
                <a:alpha val="8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43000" y="754380"/>
            <a:ext cx="1034772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800" b="1" spc="144" kern="0" dirty="0">
                <a:solidFill>
                  <a:srgbClr val="598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DEMO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5494" y="1645920"/>
            <a:ext cx="17654457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957"/>
              </a:lnSpc>
              <a:buNone/>
            </a:pPr>
            <a:r>
              <a:rPr lang="en-US" sz="7200" b="1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Live-Demo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916305" y="3202305"/>
            <a:ext cx="11923395" cy="2550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5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Starten mit: docker compose up --build</a:t>
            </a:r>
            <a:endParaRPr lang="en-US" sz="25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5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 Browser öffnen: localhost:5173</a:t>
            </a:r>
            <a:endParaRPr lang="en-US" sz="25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5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Tisch 4 bestellen, abrechnen, freigeben</a:t>
            </a:r>
            <a:endParaRPr lang="en-US" sz="25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8755380"/>
            <a:ext cx="2491026" cy="1600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D2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143000"/>
            <a:ext cx="16011525" cy="8010525"/>
          </a:xfrm>
          <a:prstGeom prst="rect">
            <a:avLst/>
          </a:prstGeom>
          <a:blipFill>
            <a:blip r:embed="rId1"/>
            <a:tile tx="0" ty="0" sx="100000" sy="100000" flip="none" algn="tl"/>
          </a:blipFill>
          <a:ln w="7620">
            <a:solidFill>
              <a:srgbClr val="F4F4F4">
                <a:alpha val="9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78456" y="2514600"/>
            <a:ext cx="4405658" cy="3238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957"/>
              </a:lnSpc>
              <a:buNone/>
            </a:pPr>
            <a:r>
              <a:rPr lang="en-US" sz="36000" b="1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6000" dirty="0"/>
          </a:p>
        </p:txBody>
      </p:sp>
      <p:sp>
        <p:nvSpPr>
          <p:cNvPr id="4" name="Text 2"/>
          <p:cNvSpPr/>
          <p:nvPr/>
        </p:nvSpPr>
        <p:spPr>
          <a:xfrm>
            <a:off x="1095494" y="7132320"/>
            <a:ext cx="2779157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957"/>
              </a:lnSpc>
              <a:buNone/>
            </a:pPr>
            <a:r>
              <a:rPr lang="en-US" sz="7200" b="1" dirty="0">
                <a:solidFill>
                  <a:srgbClr val="F2F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Technik</a:t>
            </a:r>
            <a:endParaRPr lang="en-US" sz="7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8755380"/>
            <a:ext cx="2611517" cy="1600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143000"/>
            <a:ext cx="16011525" cy="8010525"/>
          </a:xfrm>
          <a:prstGeom prst="rect">
            <a:avLst/>
          </a:prstGeom>
          <a:blipFill>
            <a:blip r:embed="rId1"/>
            <a:tile tx="0" ty="0" sx="100000" sy="100000" flip="none" algn="tl"/>
          </a:blipFill>
          <a:ln w="7620">
            <a:solidFill>
              <a:srgbClr val="1A1A26">
                <a:alpha val="8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43000" y="754380"/>
            <a:ext cx="1395603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800" b="1" spc="144" kern="0" dirty="0">
                <a:solidFill>
                  <a:srgbClr val="598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TECHNIK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5494" y="1645920"/>
            <a:ext cx="17654457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957"/>
              </a:lnSpc>
              <a:buNone/>
            </a:pPr>
            <a:r>
              <a:rPr lang="en-US" sz="7200" b="1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Drei Teile, ein System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1143000" y="3162300"/>
            <a:ext cx="402336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448"/>
              </a:lnSpc>
              <a:buNone/>
            </a:pPr>
            <a:r>
              <a:rPr lang="en-US" sz="3000" b="1" spc="-45" kern="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143000" y="4156710"/>
            <a:ext cx="3767328" cy="681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 mit TypeScript, Vite und Tailwind. Läuft im Browser.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257800" y="3162300"/>
            <a:ext cx="402336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448"/>
              </a:lnSpc>
              <a:buNone/>
            </a:pPr>
            <a:r>
              <a:rPr lang="en-US" sz="3000" b="1" spc="-45" kern="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257800" y="4156710"/>
            <a:ext cx="3767328" cy="681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.NET 10 mit ASP.NET Core Minimal APIs und EF Core.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372600" y="3162300"/>
            <a:ext cx="402336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448"/>
              </a:lnSpc>
              <a:buNone/>
            </a:pPr>
            <a:r>
              <a:rPr lang="en-US" sz="3000" b="1" spc="-45" kern="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Datenbank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9372600" y="4156710"/>
            <a:ext cx="3767328" cy="681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17. Schema und Startdaten als SQL-Skript.</a:t>
            </a:r>
            <a:endParaRPr lang="en-US" sz="21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8755380"/>
            <a:ext cx="2611517" cy="1600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143000"/>
            <a:ext cx="16011525" cy="8010525"/>
          </a:xfrm>
          <a:prstGeom prst="rect">
            <a:avLst/>
          </a:prstGeom>
          <a:blipFill>
            <a:blip r:embed="rId1"/>
            <a:tile tx="0" ty="0" sx="100000" sy="100000" flip="none" algn="tl"/>
          </a:blipFill>
          <a:ln w="7620">
            <a:solidFill>
              <a:srgbClr val="1A1A26">
                <a:alpha val="8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43000" y="754380"/>
            <a:ext cx="1395603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800" b="1" spc="144" kern="0" dirty="0">
                <a:solidFill>
                  <a:srgbClr val="598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TECHNIK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5494" y="1645920"/>
            <a:ext cx="17654457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957"/>
              </a:lnSpc>
              <a:buNone/>
            </a:pPr>
            <a:r>
              <a:rPr lang="en-US" sz="7200" b="1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wichtigsten Endpunkte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1143000" y="2514600"/>
            <a:ext cx="4009644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800" spc="144" kern="0" dirty="0">
                <a:solidFill>
                  <a:srgbClr val="1C2020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257800" y="2514600"/>
            <a:ext cx="4009644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800" spc="144" kern="0" dirty="0">
                <a:solidFill>
                  <a:srgbClr val="1C2020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PFAD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372600" y="2514600"/>
            <a:ext cx="4009644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800" spc="144" kern="0" dirty="0">
                <a:solidFill>
                  <a:srgbClr val="1C2020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BEREICH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487400" y="2514600"/>
            <a:ext cx="3767328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800" spc="144" kern="0" dirty="0">
                <a:solidFill>
                  <a:srgbClr val="1C2020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ZWECK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" y="3429000"/>
            <a:ext cx="4009644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l" indent="0" marL="0">
              <a:lnSpc>
                <a:spcPct val="133780"/>
              </a:lnSpc>
              <a:buNone/>
            </a:pPr>
            <a:r>
              <a:rPr lang="en-US" sz="2175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</a:t>
            </a:r>
            <a:endParaRPr lang="en-US" sz="2175" dirty="0"/>
          </a:p>
        </p:txBody>
      </p:sp>
      <p:sp>
        <p:nvSpPr>
          <p:cNvPr id="10" name="Text 8"/>
          <p:cNvSpPr/>
          <p:nvPr/>
        </p:nvSpPr>
        <p:spPr>
          <a:xfrm>
            <a:off x="5257800" y="3429000"/>
            <a:ext cx="4009644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l" indent="0" marL="0">
              <a:lnSpc>
                <a:spcPct val="133780"/>
              </a:lnSpc>
              <a:buNone/>
            </a:pPr>
            <a:r>
              <a:rPr lang="en-US" sz="2175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/api/tische</a:t>
            </a:r>
            <a:endParaRPr lang="en-US" sz="2175" dirty="0"/>
          </a:p>
        </p:txBody>
      </p:sp>
      <p:sp>
        <p:nvSpPr>
          <p:cNvPr id="11" name="Text 9"/>
          <p:cNvSpPr/>
          <p:nvPr/>
        </p:nvSpPr>
        <p:spPr>
          <a:xfrm>
            <a:off x="9372600" y="3429000"/>
            <a:ext cx="4009644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l" indent="0" marL="0">
              <a:lnSpc>
                <a:spcPct val="133780"/>
              </a:lnSpc>
              <a:buNone/>
            </a:pPr>
            <a:r>
              <a:rPr lang="en-US" sz="2175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Stammdaten</a:t>
            </a:r>
            <a:endParaRPr lang="en-US" sz="2175" dirty="0"/>
          </a:p>
        </p:txBody>
      </p:sp>
      <p:sp>
        <p:nvSpPr>
          <p:cNvPr id="12" name="Text 10"/>
          <p:cNvSpPr/>
          <p:nvPr/>
        </p:nvSpPr>
        <p:spPr>
          <a:xfrm>
            <a:off x="13487400" y="3429000"/>
            <a:ext cx="3767328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l" indent="0" marL="0">
              <a:lnSpc>
                <a:spcPct val="133780"/>
              </a:lnSpc>
              <a:buNone/>
            </a:pPr>
            <a:r>
              <a:rPr lang="en-US" sz="2175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 Tische mit Status laden</a:t>
            </a:r>
            <a:endParaRPr lang="en-US" sz="2175" dirty="0"/>
          </a:p>
        </p:txBody>
      </p:sp>
      <p:sp>
        <p:nvSpPr>
          <p:cNvPr id="13" name="Text 11"/>
          <p:cNvSpPr/>
          <p:nvPr/>
        </p:nvSpPr>
        <p:spPr>
          <a:xfrm>
            <a:off x="1143000" y="4572000"/>
            <a:ext cx="4009644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l" indent="0" marL="0">
              <a:lnSpc>
                <a:spcPct val="133780"/>
              </a:lnSpc>
              <a:buNone/>
            </a:pPr>
            <a:r>
              <a:rPr lang="en-US" sz="2175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</a:t>
            </a:r>
            <a:endParaRPr lang="en-US" sz="2175" dirty="0"/>
          </a:p>
        </p:txBody>
      </p:sp>
      <p:sp>
        <p:nvSpPr>
          <p:cNvPr id="14" name="Text 12"/>
          <p:cNvSpPr/>
          <p:nvPr/>
        </p:nvSpPr>
        <p:spPr>
          <a:xfrm>
            <a:off x="5257800" y="4572000"/>
            <a:ext cx="4009644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l" indent="0" marL="0">
              <a:lnSpc>
                <a:spcPct val="133780"/>
              </a:lnSpc>
              <a:buNone/>
            </a:pPr>
            <a:r>
              <a:rPr lang="en-US" sz="2175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/api/tische/{id}/status</a:t>
            </a:r>
            <a:endParaRPr lang="en-US" sz="2175" dirty="0"/>
          </a:p>
        </p:txBody>
      </p:sp>
      <p:sp>
        <p:nvSpPr>
          <p:cNvPr id="15" name="Text 13"/>
          <p:cNvSpPr/>
          <p:nvPr/>
        </p:nvSpPr>
        <p:spPr>
          <a:xfrm>
            <a:off x="9372600" y="4572000"/>
            <a:ext cx="4009644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l" indent="0" marL="0">
              <a:lnSpc>
                <a:spcPct val="133780"/>
              </a:lnSpc>
              <a:buNone/>
            </a:pPr>
            <a:r>
              <a:rPr lang="en-US" sz="2175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Stammdaten</a:t>
            </a:r>
            <a:endParaRPr lang="en-US" sz="2175" dirty="0"/>
          </a:p>
        </p:txBody>
      </p:sp>
      <p:sp>
        <p:nvSpPr>
          <p:cNvPr id="16" name="Text 14"/>
          <p:cNvSpPr/>
          <p:nvPr/>
        </p:nvSpPr>
        <p:spPr>
          <a:xfrm>
            <a:off x="13487400" y="4572000"/>
            <a:ext cx="3767328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l" indent="0" marL="0">
              <a:lnSpc>
                <a:spcPct val="133780"/>
              </a:lnSpc>
              <a:buNone/>
            </a:pPr>
            <a:r>
              <a:rPr lang="en-US" sz="2175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Tisch frei oder besetzt setzen</a:t>
            </a:r>
            <a:endParaRPr lang="en-US" sz="2175" dirty="0"/>
          </a:p>
        </p:txBody>
      </p:sp>
      <p:sp>
        <p:nvSpPr>
          <p:cNvPr id="17" name="Text 15"/>
          <p:cNvSpPr/>
          <p:nvPr/>
        </p:nvSpPr>
        <p:spPr>
          <a:xfrm>
            <a:off x="1143000" y="5715000"/>
            <a:ext cx="4009644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l" indent="0" marL="0">
              <a:lnSpc>
                <a:spcPct val="133780"/>
              </a:lnSpc>
              <a:buNone/>
            </a:pPr>
            <a:r>
              <a:rPr lang="en-US" sz="2175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</a:t>
            </a:r>
            <a:endParaRPr lang="en-US" sz="2175" dirty="0"/>
          </a:p>
        </p:txBody>
      </p:sp>
      <p:sp>
        <p:nvSpPr>
          <p:cNvPr id="18" name="Text 16"/>
          <p:cNvSpPr/>
          <p:nvPr/>
        </p:nvSpPr>
        <p:spPr>
          <a:xfrm>
            <a:off x="5257800" y="5715000"/>
            <a:ext cx="4009644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l" indent="0" marL="0">
              <a:lnSpc>
                <a:spcPct val="133780"/>
              </a:lnSpc>
              <a:buNone/>
            </a:pPr>
            <a:r>
              <a:rPr lang="en-US" sz="2175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/api/artikel</a:t>
            </a:r>
            <a:endParaRPr lang="en-US" sz="2175" dirty="0"/>
          </a:p>
        </p:txBody>
      </p:sp>
      <p:sp>
        <p:nvSpPr>
          <p:cNvPr id="19" name="Text 17"/>
          <p:cNvSpPr/>
          <p:nvPr/>
        </p:nvSpPr>
        <p:spPr>
          <a:xfrm>
            <a:off x="9372600" y="5715000"/>
            <a:ext cx="4009644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l" indent="0" marL="0">
              <a:lnSpc>
                <a:spcPct val="133780"/>
              </a:lnSpc>
              <a:buNone/>
            </a:pPr>
            <a:r>
              <a:rPr lang="en-US" sz="2175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Speisekarte</a:t>
            </a:r>
            <a:endParaRPr lang="en-US" sz="2175" dirty="0"/>
          </a:p>
        </p:txBody>
      </p:sp>
      <p:sp>
        <p:nvSpPr>
          <p:cNvPr id="20" name="Text 18"/>
          <p:cNvSpPr/>
          <p:nvPr/>
        </p:nvSpPr>
        <p:spPr>
          <a:xfrm>
            <a:off x="13487400" y="5715000"/>
            <a:ext cx="3767328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l" indent="0" marL="0">
              <a:lnSpc>
                <a:spcPct val="133780"/>
              </a:lnSpc>
              <a:buNone/>
            </a:pPr>
            <a:r>
              <a:rPr lang="en-US" sz="2175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Essen und Trinken laden</a:t>
            </a:r>
            <a:endParaRPr lang="en-US" sz="2175" dirty="0"/>
          </a:p>
        </p:txBody>
      </p:sp>
      <p:sp>
        <p:nvSpPr>
          <p:cNvPr id="21" name="Text 19"/>
          <p:cNvSpPr/>
          <p:nvPr/>
        </p:nvSpPr>
        <p:spPr>
          <a:xfrm>
            <a:off x="1143000" y="6858000"/>
            <a:ext cx="4009644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l" indent="0" marL="0">
              <a:lnSpc>
                <a:spcPct val="133780"/>
              </a:lnSpc>
              <a:buNone/>
            </a:pPr>
            <a:r>
              <a:rPr lang="en-US" sz="2175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</a:t>
            </a:r>
            <a:endParaRPr lang="en-US" sz="2175" dirty="0"/>
          </a:p>
        </p:txBody>
      </p:sp>
      <p:sp>
        <p:nvSpPr>
          <p:cNvPr id="22" name="Text 20"/>
          <p:cNvSpPr/>
          <p:nvPr/>
        </p:nvSpPr>
        <p:spPr>
          <a:xfrm>
            <a:off x="5257800" y="6858000"/>
            <a:ext cx="4009644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l" indent="0" marL="0">
              <a:lnSpc>
                <a:spcPct val="133780"/>
              </a:lnSpc>
              <a:buNone/>
            </a:pPr>
            <a:r>
              <a:rPr lang="en-US" sz="2175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/api/bestellungen</a:t>
            </a:r>
            <a:endParaRPr lang="en-US" sz="2175" dirty="0"/>
          </a:p>
        </p:txBody>
      </p:sp>
      <p:sp>
        <p:nvSpPr>
          <p:cNvPr id="23" name="Text 21"/>
          <p:cNvSpPr/>
          <p:nvPr/>
        </p:nvSpPr>
        <p:spPr>
          <a:xfrm>
            <a:off x="9372600" y="6858000"/>
            <a:ext cx="4009644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l" indent="0" marL="0">
              <a:lnSpc>
                <a:spcPct val="133780"/>
              </a:lnSpc>
              <a:buNone/>
            </a:pPr>
            <a:r>
              <a:rPr lang="en-US" sz="2175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Bestellung</a:t>
            </a:r>
            <a:endParaRPr lang="en-US" sz="2175" dirty="0"/>
          </a:p>
        </p:txBody>
      </p:sp>
      <p:sp>
        <p:nvSpPr>
          <p:cNvPr id="24" name="Text 22"/>
          <p:cNvSpPr/>
          <p:nvPr/>
        </p:nvSpPr>
        <p:spPr>
          <a:xfrm>
            <a:off x="13487400" y="6858000"/>
            <a:ext cx="3767328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l" indent="0" marL="0">
              <a:lnSpc>
                <a:spcPct val="133780"/>
              </a:lnSpc>
              <a:buNone/>
            </a:pPr>
            <a:r>
              <a:rPr lang="en-US" sz="2175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Bezahlte Bestellung speichern</a:t>
            </a:r>
            <a:endParaRPr lang="en-US" sz="2175" dirty="0"/>
          </a:p>
        </p:txBody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8755380"/>
            <a:ext cx="2611517" cy="1600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D2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143000"/>
            <a:ext cx="16011525" cy="8010525"/>
          </a:xfrm>
          <a:prstGeom prst="rect">
            <a:avLst/>
          </a:prstGeom>
          <a:blipFill>
            <a:blip r:embed="rId1"/>
            <a:tile tx="0" ty="0" sx="100000" sy="100000" flip="none" algn="tl"/>
          </a:blipFill>
          <a:ln w="7620">
            <a:solidFill>
              <a:srgbClr val="F4F4F4">
                <a:alpha val="9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78456" y="2514600"/>
            <a:ext cx="4571595" cy="3238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957"/>
              </a:lnSpc>
              <a:buNone/>
            </a:pPr>
            <a:r>
              <a:rPr lang="en-US" sz="36000" b="1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6000" dirty="0"/>
          </a:p>
        </p:txBody>
      </p:sp>
      <p:sp>
        <p:nvSpPr>
          <p:cNvPr id="4" name="Text 2"/>
          <p:cNvSpPr/>
          <p:nvPr/>
        </p:nvSpPr>
        <p:spPr>
          <a:xfrm>
            <a:off x="1095494" y="7132320"/>
            <a:ext cx="5692164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957"/>
              </a:lnSpc>
              <a:buNone/>
            </a:pPr>
            <a:r>
              <a:rPr lang="en-US" sz="7200" b="1" dirty="0">
                <a:solidFill>
                  <a:srgbClr val="F2F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Fazit &amp; Ausblick</a:t>
            </a:r>
            <a:endParaRPr lang="en-US" sz="7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8755380"/>
            <a:ext cx="2611517" cy="1600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143000"/>
            <a:ext cx="16011525" cy="8010525"/>
          </a:xfrm>
          <a:prstGeom prst="rect">
            <a:avLst/>
          </a:prstGeom>
          <a:blipFill>
            <a:blip r:embed="rId1"/>
            <a:tile tx="0" ty="0" sx="100000" sy="100000" flip="none" algn="tl"/>
          </a:blipFill>
          <a:ln w="7620">
            <a:solidFill>
              <a:srgbClr val="1A1A26">
                <a:alpha val="8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43000" y="754380"/>
            <a:ext cx="2399478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800" b="1" spc="144" kern="0" dirty="0">
                <a:solidFill>
                  <a:srgbClr val="598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FAZIT &amp; AUSBLICK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5494" y="1645920"/>
            <a:ext cx="17654457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957"/>
              </a:lnSpc>
              <a:buNone/>
            </a:pPr>
            <a:r>
              <a:rPr lang="en-US" sz="7200" b="1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steht, was kommt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1143000" y="3162300"/>
            <a:ext cx="854964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448"/>
              </a:lnSpc>
              <a:buNone/>
            </a:pPr>
            <a:r>
              <a:rPr lang="en-US" sz="3000" b="1" spc="-45" kern="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Erreicht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143000" y="4156710"/>
            <a:ext cx="8005572" cy="681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Servicebereich komplett: Tischverwaltung, Bestellaufnahme und Rechnung mit Bar- oder Kartenzahlung.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372600" y="3162300"/>
            <a:ext cx="854964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448"/>
              </a:lnSpc>
              <a:buNone/>
            </a:pPr>
            <a:r>
              <a:rPr lang="en-US" sz="3000" b="1" spc="-45" kern="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Nächste Schritte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372600" y="4156710"/>
            <a:ext cx="8005572" cy="681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Rechnung auf mehrere Gäste aufteilen, Positionen gezielt stornieren, Bestätigung vor dem Zahlungsabschluss.</a:t>
            </a:r>
            <a:endParaRPr lang="en-US" sz="2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8755380"/>
            <a:ext cx="2611517" cy="1600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143000"/>
            <a:ext cx="16011525" cy="8010525"/>
          </a:xfrm>
          <a:prstGeom prst="rect">
            <a:avLst/>
          </a:prstGeom>
          <a:blipFill>
            <a:blip r:embed="rId1"/>
            <a:tile tx="0" ty="0" sx="100000" sy="100000" flip="none" algn="tl"/>
          </a:blipFill>
          <a:ln w="7620">
            <a:solidFill>
              <a:srgbClr val="1A1A26">
                <a:alpha val="8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43000" y="754380"/>
            <a:ext cx="2399478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800" b="1" spc="144" kern="0" dirty="0">
                <a:solidFill>
                  <a:srgbClr val="598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FAZIT &amp; AUSBLICK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5494" y="1645920"/>
            <a:ext cx="17654457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957"/>
              </a:lnSpc>
              <a:buNone/>
            </a:pPr>
            <a:r>
              <a:rPr lang="en-US" sz="7200" b="1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Ausblick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1143000" y="3162300"/>
            <a:ext cx="402336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448"/>
              </a:lnSpc>
              <a:buNone/>
            </a:pPr>
            <a:r>
              <a:rPr lang="en-US" sz="3000" b="1" spc="-45" kern="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ausbauen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143000" y="4156710"/>
            <a:ext cx="3767328" cy="1139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Rechnung teilen, stornieren, Zahlung bestätigen — nach Rückmeldung aus der Nutzung.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257800" y="3162300"/>
            <a:ext cx="402336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448"/>
              </a:lnSpc>
              <a:buNone/>
            </a:pPr>
            <a:r>
              <a:rPr lang="en-US" sz="3000" b="1" spc="-45" kern="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Tische verwalten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257800" y="4156710"/>
            <a:ext cx="3767328" cy="1596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Webübersicht implemtieren um Tische anzulegen, zu bearbeiten und entfernen, dazu mehr Tests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372600" y="3162300"/>
            <a:ext cx="402336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448"/>
              </a:lnSpc>
              <a:buNone/>
            </a:pPr>
            <a:r>
              <a:rPr lang="en-US" sz="3000" b="1" spc="-45" kern="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Küche &amp; Admin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9372600" y="4156710"/>
            <a:ext cx="3767328" cy="1139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Küche meldet fertige Gerichte, Admin verwaltet Mitarbeiter und Rollen.</a:t>
            </a:r>
            <a:endParaRPr lang="en-US" sz="21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8755380"/>
            <a:ext cx="2611517" cy="1600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143000"/>
            <a:ext cx="16011525" cy="8010525"/>
          </a:xfrm>
          <a:prstGeom prst="rect">
            <a:avLst/>
          </a:prstGeom>
          <a:blipFill>
            <a:blip r:embed="rId1"/>
            <a:tile tx="0" ty="0" sx="100000" sy="100000" flip="none" algn="tl"/>
          </a:blipFill>
          <a:ln w="7620">
            <a:solidFill>
              <a:srgbClr val="1A1A26">
                <a:alpha val="8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4952226" y="754380"/>
            <a:ext cx="2412052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800" b="1" spc="144" kern="0" dirty="0">
                <a:solidFill>
                  <a:srgbClr val="598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PROJEKTVORSTELLUNG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0363" y="3794760"/>
            <a:ext cx="17759100" cy="1958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957"/>
              </a:lnSpc>
              <a:buNone/>
            </a:pPr>
            <a:r>
              <a:rPr lang="en-US" sz="21600" b="1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Fragen?</a:t>
            </a:r>
            <a:endParaRPr lang="en-US" sz="21600" dirty="0"/>
          </a:p>
        </p:txBody>
      </p:sp>
      <p:sp>
        <p:nvSpPr>
          <p:cNvPr id="5" name="Text 3"/>
          <p:cNvSpPr/>
          <p:nvPr/>
        </p:nvSpPr>
        <p:spPr>
          <a:xfrm>
            <a:off x="1143000" y="6442710"/>
            <a:ext cx="7219915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1D1F21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Danke fürs Zuhören — die Doku liegt im Repo unter Docs/.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143000" y="8755380"/>
            <a:ext cx="1927205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800" dirty="0">
                <a:solidFill>
                  <a:srgbClr val="1D1F21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Restaurant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066455" y="8755380"/>
            <a:ext cx="124301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800" dirty="0">
                <a:solidFill>
                  <a:srgbClr val="1D1F21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286006" y="8755380"/>
            <a:ext cx="2134267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800" dirty="0">
                <a:solidFill>
                  <a:srgbClr val="1D1F21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GIG — Gastro ist geil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2026-10-01T10:21:37Z</dcterms:created>
  <dcterms:modified xsi:type="dcterms:W3CDTF">2026-10-01T10:21:37Z</dcterms:modified>
</cp:coreProperties>
</file>